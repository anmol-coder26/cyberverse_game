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31352" y="3657600"/>
            <a:ext cx="6400800" cy="64008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CYBER SURVIVAL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</a:t>
            </a:r>
            <a:pPr indent="0" marL="0">
              <a:buNone/>
            </a:pPr>
            <a:r>
              <a:rPr lang="en-US" sz="6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 has consequences.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456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MIDNIGHT BUILDERS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cinematic cybersecurity game that teaches Indians to recognize and survive real digital fraud — by living through it, not answering quiz questions about 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14400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PLAYABLE CASES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SYSTEMS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69280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HELPLINE BUILT-IN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31936" y="1316736"/>
            <a:ext cx="2944368" cy="2103120"/>
          </a:xfrm>
          <a:prstGeom prst="roundRect">
            <a:avLst>
              <a:gd name="adj" fmla="val 3478"/>
            </a:avLst>
          </a:prstGeom>
          <a:solidFill>
            <a:srgbClr val="0D122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41664" y="1115568"/>
            <a:ext cx="82296" cy="82296"/>
          </a:xfrm>
          <a:prstGeom prst="ellipse">
            <a:avLst/>
          </a:prstGeom>
          <a:solidFill>
            <a:srgbClr val="FF3366"/>
          </a:solidFill>
          <a:ln/>
        </p:spPr>
      </p:sp>
      <p:sp>
        <p:nvSpPr>
          <p:cNvPr id="17" name="Shape 15"/>
          <p:cNvSpPr/>
          <p:nvPr/>
        </p:nvSpPr>
        <p:spPr>
          <a:xfrm>
            <a:off x="8887968" y="1115568"/>
            <a:ext cx="82296" cy="82296"/>
          </a:xfrm>
          <a:prstGeom prst="ellipse">
            <a:avLst/>
          </a:prstGeom>
          <a:solidFill>
            <a:srgbClr val="FFA94D"/>
          </a:solidFill>
          <a:ln/>
        </p:spPr>
      </p:sp>
      <p:sp>
        <p:nvSpPr>
          <p:cNvPr id="18" name="Shape 16"/>
          <p:cNvSpPr/>
          <p:nvPr/>
        </p:nvSpPr>
        <p:spPr>
          <a:xfrm>
            <a:off x="9034272" y="1115568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9" name="Image 0" descr="shot-bo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1371600"/>
            <a:ext cx="2834640" cy="199339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Builders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through the night, one system at a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5074920" cy="3291840"/>
          </a:xfrm>
          <a:prstGeom prst="roundRect">
            <a:avLst>
              <a:gd name="adj" fmla="val 3333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3063240"/>
            <a:ext cx="1371600" cy="1371600"/>
          </a:xfrm>
          <a:prstGeom prst="ellipse">
            <a:avLst/>
          </a:prstGeom>
          <a:solidFill>
            <a:srgbClr val="161C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3063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46634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Anmol Singh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5166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2560320"/>
            <a:ext cx="5074920" cy="3291840"/>
          </a:xfrm>
          <a:prstGeom prst="roundRect">
            <a:avLst>
              <a:gd name="adj" fmla="val 3333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56832" y="3063240"/>
            <a:ext cx="1371600" cy="1371600"/>
          </a:xfrm>
          <a:prstGeom prst="ellipse">
            <a:avLst/>
          </a:prstGeom>
          <a:solidFill>
            <a:srgbClr val="161C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3063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56832" y="46634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Bamer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56832" y="5166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PRIMER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cybersecurity, really?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protecting devices, networks, and data from unauthorized access, damage, or theft — technical defenses like encryption, but just as much about training people to recognize manipulation.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017520"/>
            <a:ext cx="777240" cy="7772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0" descr="icons/lock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907" y="3235147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4023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systems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4572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devices, and data defended from unauthorized access or theft.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54296" y="269748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28616" y="3017520"/>
            <a:ext cx="777240" cy="7772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12" name="Image 1" descr="icons/brain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243" y="3235147"/>
            <a:ext cx="341986" cy="3419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28616" y="4023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Preventing, not reacting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28616" y="4572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an attack before it happens beats cleaning up after it succeeds.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485632" y="269748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759952" y="3017520"/>
            <a:ext cx="777240" cy="7772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FFA94D"/>
            </a:solidFill>
            <a:prstDash val="solid"/>
          </a:ln>
        </p:spPr>
      </p:sp>
      <p:pic>
        <p:nvPicPr>
          <p:cNvPr id="17" name="Image 2" descr="icons/users_saffr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579" y="3235147"/>
            <a:ext cx="341986" cy="3419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59952" y="4023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Everyone's responsibility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759952" y="4572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vulnerability usually isn't code — it's human trust, exploited by social engineering.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THIS IS NOT HYPOTHETICAL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cybercrime crisis, in real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671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2.3M+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complaints reported in 2024 alone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9632" y="196596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21671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73952" y="2880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reports since 2021 — NCRP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702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1,23,672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97280" y="4983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incidents in 2024, up from 39,925 in 2022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9632" y="406908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42702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₹7,130Cr+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73952" y="4983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via the 1930 helpline — proof reporting works, if people know how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National Cyber Crime Reporting Portal (NCRP), Indian Cyber Crime Coordination Centre (I4C), Ministry of Home Affairs.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remembers a quiz they took once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074920" cy="4114800"/>
          </a:xfrm>
          <a:prstGeom prst="roundRect">
            <a:avLst>
              <a:gd name="adj" fmla="val 2667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2743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 quizzes you forget in a week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520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dashboards nobody opens twice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42976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with no emotional stakes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5074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content, same for everyone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074920" cy="4114800"/>
          </a:xfrm>
          <a:prstGeom prst="roundRect">
            <a:avLst>
              <a:gd name="adj" fmla="val 2667"/>
            </a:avLst>
          </a:prstGeom>
          <a:solidFill>
            <a:srgbClr val="161C33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CYBERVERSE WAY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investigate real fake SMS, emails, and calls yourself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3520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ticking clock recreates real scam pressure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2976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choices cost Health — there's an actual game over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50749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ends by testing recognition, not memory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MECHANIC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Investigate. Don't guess.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mission replaces a multiple-choice question with a real device you have to search yourself.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2423160" cy="3566160"/>
          </a:xfrm>
          <a:prstGeom prst="roundRect">
            <a:avLst>
              <a:gd name="adj" fmla="val 4528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3060" y="2606040"/>
            <a:ext cx="822960" cy="82296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0" descr="icons/mapmarker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3489" y="2836469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889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scene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05840" y="41605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into a location — an apartment, a metro, a market — each with its own lighting and mood.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55264" y="3566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465576" y="2331720"/>
            <a:ext cx="2423160" cy="3566160"/>
          </a:xfrm>
          <a:prstGeom prst="roundRect">
            <a:avLst>
              <a:gd name="adj" fmla="val 4528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65676" y="2606040"/>
            <a:ext cx="822960" cy="82296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4" name="Image 1" descr="icons/mobil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105" y="2836469"/>
            <a:ext cx="362102" cy="3621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31536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48456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the phone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648456" y="41605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in-world device: messages, calls, QR scanner, email — whatever the scam uses.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897880" y="3566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108192" y="2331720"/>
            <a:ext cx="2423160" cy="3566160"/>
          </a:xfrm>
          <a:prstGeom prst="roundRect">
            <a:avLst>
              <a:gd name="adj" fmla="val 4528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08292" y="2606040"/>
            <a:ext cx="822960" cy="82296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1" name="Image 2" descr="icons/search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721" y="2836469"/>
            <a:ext cx="362102" cy="3621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74152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91072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evidence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291072" y="41605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suspicious parts of the message yourself. Nothing is highlighted for you.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540496" y="3566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8750808" y="2331720"/>
            <a:ext cx="2423160" cy="3566160"/>
          </a:xfrm>
          <a:prstGeom prst="roundRect">
            <a:avLst>
              <a:gd name="adj" fmla="val 4528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550908" y="2606040"/>
            <a:ext cx="822960" cy="82296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8" name="Image 3" descr="icons/bullsey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1337" y="2836469"/>
            <a:ext cx="362102" cy="36210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716768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8933688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under pressure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8933688" y="41605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countdown — shaped by your Stress — forces a real decision before you're ready.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NOT STATS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that actually do something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screen changes gameplay — none of them are decorative.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371600" cy="233172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487168"/>
            <a:ext cx="548640" cy="5486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0" descr="icons/shiel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059" y="2640787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20040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Darkens or brightens the whole city.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331720" y="2286000"/>
            <a:ext cx="1371600" cy="233172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0" y="2487168"/>
            <a:ext cx="548640" cy="5486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12" name="Image 1" descr="icons/brain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819" y="264078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04872" y="320040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IQ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423160" y="35661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it to ask the mentor for a hint.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840480" y="2286000"/>
            <a:ext cx="1371600" cy="233172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51960" y="2487168"/>
            <a:ext cx="548640" cy="5486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7" name="Image 2" descr="icons/heartbeat_emera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579" y="2640787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13632" y="320040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931920" y="35661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means a real game over.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349240" y="2286000"/>
            <a:ext cx="1371600" cy="2331720"/>
          </a:xfrm>
          <a:prstGeom prst="roundRect">
            <a:avLst>
              <a:gd name="adj" fmla="val 8000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760720" y="2487168"/>
            <a:ext cx="548640" cy="5486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FFA94D"/>
            </a:solidFill>
            <a:prstDash val="solid"/>
          </a:ln>
        </p:spPr>
      </p:sp>
      <p:pic>
        <p:nvPicPr>
          <p:cNvPr id="22" name="Image 3" descr="icons/fire_saffr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39" y="2640787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22392" y="320040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40680" y="35661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Shortens your timer on the next case.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22960" y="4846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HUD, live in the game — not a mockup: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848856" y="1362456"/>
            <a:ext cx="4590288" cy="2276856"/>
          </a:xfrm>
          <a:prstGeom prst="roundRect">
            <a:avLst>
              <a:gd name="adj" fmla="val 3213"/>
            </a:avLst>
          </a:prstGeom>
          <a:solidFill>
            <a:srgbClr val="0D122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958584" y="1161288"/>
            <a:ext cx="82296" cy="82296"/>
          </a:xfrm>
          <a:prstGeom prst="ellipse">
            <a:avLst/>
          </a:prstGeom>
          <a:solidFill>
            <a:srgbClr val="FF3366"/>
          </a:solidFill>
          <a:ln/>
        </p:spPr>
      </p:sp>
      <p:sp>
        <p:nvSpPr>
          <p:cNvPr id="28" name="Shape 22"/>
          <p:cNvSpPr/>
          <p:nvPr/>
        </p:nvSpPr>
        <p:spPr>
          <a:xfrm>
            <a:off x="7104888" y="1161288"/>
            <a:ext cx="82296" cy="82296"/>
          </a:xfrm>
          <a:prstGeom prst="ellipse">
            <a:avLst/>
          </a:prstGeom>
          <a:solidFill>
            <a:srgbClr val="FFA94D"/>
          </a:solidFill>
          <a:ln/>
        </p:spPr>
      </p:sp>
      <p:sp>
        <p:nvSpPr>
          <p:cNvPr id="29" name="Shape 23"/>
          <p:cNvSpPr/>
          <p:nvPr/>
        </p:nvSpPr>
        <p:spPr>
          <a:xfrm>
            <a:off x="7251192" y="1161288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30" name="Image 4" descr="shot-pillar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03720" y="1417320"/>
            <a:ext cx="4480560" cy="216712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03720" y="3794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in-game screenshot — the briefing screen shown before every player's first case.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REAL, AND IT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playable cases. All unlocked. All real scams.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case dashboard — not a concept mockup. Every card is a fully playable mission.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82496" y="2048256"/>
            <a:ext cx="8796528" cy="4087368"/>
          </a:xfrm>
          <a:prstGeom prst="roundRect">
            <a:avLst>
              <a:gd name="adj" fmla="val 1790"/>
            </a:avLst>
          </a:prstGeom>
          <a:solidFill>
            <a:srgbClr val="0D12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2224" y="1847088"/>
            <a:ext cx="82296" cy="82296"/>
          </a:xfrm>
          <a:prstGeom prst="ellipse">
            <a:avLst/>
          </a:prstGeom>
          <a:solidFill>
            <a:srgbClr val="FF3366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1847088"/>
            <a:ext cx="82296" cy="82296"/>
          </a:xfrm>
          <a:prstGeom prst="ellipse">
            <a:avLst/>
          </a:prstGeom>
          <a:solidFill>
            <a:srgbClr val="FFA94D"/>
          </a:solidFill>
          <a:ln/>
        </p:spPr>
      </p:sp>
      <p:sp>
        <p:nvSpPr>
          <p:cNvPr id="8" name="Shape 6"/>
          <p:cNvSpPr/>
          <p:nvPr/>
        </p:nvSpPr>
        <p:spPr>
          <a:xfrm>
            <a:off x="2084832" y="1847088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shot-hu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37360" y="2103120"/>
            <a:ext cx="8686800" cy="3977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CASES, REAL CRIMES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maps to an active scam in India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084832" cy="1783080"/>
          </a:xfrm>
          <a:prstGeom prst="roundRect">
            <a:avLst>
              <a:gd name="adj" fmla="val 61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5336" y="2176272"/>
            <a:ext cx="640080" cy="64008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icons/envelop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558" y="2355494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OTP fraud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108960" y="1920240"/>
            <a:ext cx="2084832" cy="1783080"/>
          </a:xfrm>
          <a:prstGeom prst="roundRect">
            <a:avLst>
              <a:gd name="adj" fmla="val 61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31336" y="2176272"/>
            <a:ext cx="640080" cy="64008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10" name="Image 1" descr="icons/comments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558" y="235549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29718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Social fraud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394960" y="1920240"/>
            <a:ext cx="2084832" cy="1783080"/>
          </a:xfrm>
          <a:prstGeom prst="roundRect">
            <a:avLst>
              <a:gd name="adj" fmla="val 61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17336" y="2176272"/>
            <a:ext cx="640080" cy="64008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FFA94D"/>
            </a:solidFill>
            <a:prstDash val="solid"/>
          </a:ln>
        </p:spPr>
      </p:sp>
      <p:pic>
        <p:nvPicPr>
          <p:cNvPr id="14" name="Image 2" descr="icons/qrcode_saffr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558" y="2355494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29718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QR / UPI scam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680960" y="1920240"/>
            <a:ext cx="2084832" cy="1783080"/>
          </a:xfrm>
          <a:prstGeom prst="roundRect">
            <a:avLst>
              <a:gd name="adj" fmla="val 61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403336" y="2176272"/>
            <a:ext cx="640080" cy="64008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FF3366"/>
            </a:solidFill>
            <a:prstDash val="solid"/>
          </a:ln>
        </p:spPr>
      </p:sp>
      <p:pic>
        <p:nvPicPr>
          <p:cNvPr id="18" name="Image 3" descr="icons/phone_crims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558" y="2355494"/>
            <a:ext cx="281635" cy="28163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0" y="29718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Digital arrest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966960" y="1920240"/>
            <a:ext cx="2084832" cy="1783080"/>
          </a:xfrm>
          <a:prstGeom prst="roundRect">
            <a:avLst>
              <a:gd name="adj" fmla="val 61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689336" y="2176272"/>
            <a:ext cx="640080" cy="64008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2" name="Image 4" descr="icons/envelope_emera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8558" y="2355494"/>
            <a:ext cx="281635" cy="28163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58400" y="297180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Phishing email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22960" y="3904488"/>
            <a:ext cx="2084832" cy="1783080"/>
          </a:xfrm>
          <a:prstGeom prst="roundRect">
            <a:avLst>
              <a:gd name="adj" fmla="val 61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545336" y="4160520"/>
            <a:ext cx="640080" cy="64008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6" name="Image 5" descr="icons/phon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4558" y="4339742"/>
            <a:ext cx="281635" cy="28163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4400" y="495604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Vishing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3108960" y="3904488"/>
            <a:ext cx="2084832" cy="1783080"/>
          </a:xfrm>
          <a:prstGeom prst="roundRect">
            <a:avLst>
              <a:gd name="adj" fmla="val 61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831336" y="4160520"/>
            <a:ext cx="640080" cy="64008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0" name="Image 6" descr="icons/usersecret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0558" y="4339742"/>
            <a:ext cx="281635" cy="28163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200400" y="495604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Account takeover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5394960" y="3904488"/>
            <a:ext cx="2084832" cy="1783080"/>
          </a:xfrm>
          <a:prstGeom prst="roundRect">
            <a:avLst>
              <a:gd name="adj" fmla="val 61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117336" y="4160520"/>
            <a:ext cx="640080" cy="64008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FFA94D"/>
            </a:solidFill>
            <a:prstDash val="solid"/>
          </a:ln>
        </p:spPr>
      </p:sp>
      <p:pic>
        <p:nvPicPr>
          <p:cNvPr id="34" name="Image 7" descr="icons/briefcase_saffr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6558" y="4339742"/>
            <a:ext cx="281635" cy="28163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486400" y="495604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Job fraud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7680960" y="3904488"/>
            <a:ext cx="2084832" cy="1783080"/>
          </a:xfrm>
          <a:prstGeom prst="roundRect">
            <a:avLst>
              <a:gd name="adj" fmla="val 61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8403336" y="4160520"/>
            <a:ext cx="640080" cy="64008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FF3366"/>
            </a:solidFill>
            <a:prstDash val="solid"/>
          </a:ln>
        </p:spPr>
      </p:sp>
      <p:pic>
        <p:nvPicPr>
          <p:cNvPr id="38" name="Image 8" descr="icons/creditcard_crims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2558" y="4339742"/>
            <a:ext cx="281635" cy="28163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772400" y="495604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Loan app scam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9966960" y="3904488"/>
            <a:ext cx="2084832" cy="1783080"/>
          </a:xfrm>
          <a:prstGeom prst="roundRect">
            <a:avLst>
              <a:gd name="adj" fmla="val 6154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10689336" y="4160520"/>
            <a:ext cx="640080" cy="64008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42" name="Image 9" descr="icons/mobile_emera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68558" y="4339742"/>
            <a:ext cx="281635" cy="281635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0058400" y="495604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SIM swap</a:t>
            </a:r>
            <a:endParaRPr lang="en-US" sz="1150" dirty="0"/>
          </a:p>
        </p:txBody>
      </p:sp>
      <p:sp>
        <p:nvSpPr>
          <p:cNvPr id="44" name="Text 32"/>
          <p:cNvSpPr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deepfakes, crypto fraud, courier scams, and Aadhaar/PAN KYC scams on the roadmap.</a:t>
            </a:r>
            <a:endParaRPr lang="en-US" sz="1100" dirty="0"/>
          </a:p>
        </p:txBody>
      </p:sp>
      <p:sp>
        <p:nvSpPr>
          <p:cNvPr id="45" name="Text 3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Recognition, not memorization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ends the same disciplined way — an AI debrief, then a test of what you actually learned.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074920" cy="3749040"/>
          </a:xfrm>
          <a:prstGeom prst="roundRect">
            <a:avLst>
              <a:gd name="adj" fmla="val 2927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606040"/>
            <a:ext cx="777240" cy="7772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7" name="Image 0" descr="icons/robo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627" y="2823667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Mentor debrief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3337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scam worked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3000" y="38221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warning signs to watch for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3000" y="43068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right now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43000" y="47914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steps if it's too late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3000" y="5276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Indian helpline: 1930 / cybercrime.gov.in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2286000"/>
            <a:ext cx="5074920" cy="3749040"/>
          </a:xfrm>
          <a:prstGeom prst="roundRect">
            <a:avLst>
              <a:gd name="adj" fmla="val 2927"/>
            </a:avLst>
          </a:prstGeom>
          <a:solidFill>
            <a:srgbClr val="161C33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0" y="2606040"/>
            <a:ext cx="777240" cy="7772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6" name="Image 1" descr="icons/eye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307" y="2823667"/>
            <a:ext cx="341986" cy="34198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38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"Spot the Fake"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83680" y="33375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vs. fake message, domain, or request — side by side. The player has to pick which one is the scam.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83680" y="45720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difference between a game and a learning platform — applied recognition beats remembered facts.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JUDGES WILL REMEMBER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3D phone, not a chat window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606040"/>
            <a:ext cx="777240" cy="7772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icons/bol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907" y="282366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interactive phone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42519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rotate it in your hand before it wakes up. Every case starts here — calls, chats, QR scans, email.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54296" y="228600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28616" y="2606040"/>
            <a:ext cx="777240" cy="7772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1" name="Image 1" descr="icons/city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243" y="282366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28616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 that reacts to you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28616" y="42519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doesn't just go up or down — it visibly changes the lighting and mood of the whole world.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485632" y="228600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59952" y="2606040"/>
            <a:ext cx="777240" cy="7772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6" name="Image 2" descr="icons/clock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579" y="282366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59952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pressure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759952" y="42519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countdown shaped by your Stress recreates the exact urgency scammers manufacture on purpose.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past the hackathon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51560" y="27157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Component-driven game engine, fast iteration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07992" y="21488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36592" y="27157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state for player progress &amp; stats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93024" y="21488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21624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Tone.js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21624" y="27157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ambient score that reacts to tension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023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51560" y="44074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save-state sync, mission caching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07992" y="38404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4023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36592" y="44074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mission &amp; scam-content generation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93024" y="38404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4023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21624" y="44074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Installable, offline-capable for low-connectivity areas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10 cases to a national curriculum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606040"/>
            <a:ext cx="777240" cy="7772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icons/rocke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907" y="282366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Now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40233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hand-crafted cases across OTP, UPI, phishing, vishing, digital arrest, job &amp; loan fraud, SIM swap.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54296" y="228600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28616" y="2606040"/>
            <a:ext cx="777240" cy="7772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11" name="Image 1" descr="icons/brain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243" y="282366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28616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AI generation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28616" y="40233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Gemini-generated missions so no two players ever see the same scam twice.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485632" y="228600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21728"/>
          </a:solidFill>
          <a:ln w="9525">
            <a:solidFill>
              <a:srgbClr val="3A416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59952" y="2606040"/>
            <a:ext cx="777240" cy="77724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FFA94D"/>
            </a:solidFill>
            <a:prstDash val="solid"/>
          </a:ln>
        </p:spPr>
      </p:sp>
      <p:pic>
        <p:nvPicPr>
          <p:cNvPr id="16" name="Image 2" descr="icons/users_saffr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579" y="282366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59952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759952" y="40233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voice/video, crypto fraud, courier scams, Aadhaar/PAN KYC — plus school &amp; college rollout.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2" y="-1828800"/>
            <a:ext cx="6400800" cy="64008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 HAS CONSEQUENCES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it. Feel it. Then you'll remember it.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CyberVerse turns India's most dangerous scams into an experience you survive — not a slide you skip.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161C33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0" descr="icons/graduationcap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622" y="433974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cybersecurity education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5120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Midnight Builders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Anmol Singh · Team Lead      Harsh Bamer · Team Member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6035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CyberVerse — Every Click Has Consequences</dc:title>
  <dc:subject>PptxGenJS Presentation</dc:subject>
  <dc:creator>Midnight Builders</dc:creator>
  <cp:lastModifiedBy>Midnight Builders</cp:lastModifiedBy>
  <cp:revision>1</cp:revision>
  <dcterms:created xsi:type="dcterms:W3CDTF">2026-07-07T01:57:03Z</dcterms:created>
  <dcterms:modified xsi:type="dcterms:W3CDTF">2026-07-07T01:57:03Z</dcterms:modified>
</cp:coreProperties>
</file>